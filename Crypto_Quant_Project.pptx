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763" autoAdjust="0"/>
  </p:normalViewPr>
  <p:slideViewPr>
    <p:cSldViewPr snapToGrid="0" snapToObjects="1">
      <p:cViewPr varScale="1">
        <p:scale>
          <a:sx n="58" d="100"/>
          <a:sy n="58" d="100"/>
        </p:scale>
        <p:origin x="896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A5019-2E55-4251-83EA-DDE4C28C40AE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56BDAC-1D15-46D1-949F-FC56301C4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98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6BDAC-1D15-46D1-949F-FC56301C41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15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01603-758A-E2BB-27A4-2034EB731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E5F8A-4A3A-E010-C24C-D45DE6844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1A9CA-323F-1C57-6AC8-3BFA1062B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76DE1-772D-DE11-7387-7A4AC5001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6BDAC-1D15-46D1-949F-FC56301C41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774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31455-7E56-6D5A-57E0-8E07B04D3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960BC-6253-D4BF-752F-9E3197AFA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D9C36-F27A-2881-3F3F-07E76A41A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136AA-22E9-BF6C-086A-66C20232E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6BDAC-1D15-46D1-949F-FC56301C41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76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loveisp/crypto-rv-1m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rPr lang="en-US" sz="4400" dirty="0"/>
              <a:t>Lightning</a:t>
            </a:r>
            <a:r>
              <a:rPr lang="ar-BH" sz="4400" dirty="0"/>
              <a:t> </a:t>
            </a:r>
            <a:r>
              <a:rPr lang="en-US" sz="4400" dirty="0"/>
              <a:t>Talk1</a:t>
            </a:r>
            <a:endParaRPr lang="ar-BH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731519" y="4054207"/>
            <a:ext cx="48209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rPr sz="2000" dirty="0"/>
              <a:t>Prepared by: </a:t>
            </a:r>
            <a:r>
              <a:rPr lang="en-US" sz="2000" dirty="0"/>
              <a:t> Safa </a:t>
            </a:r>
            <a:r>
              <a:rPr lang="en-US" sz="2000" dirty="0" err="1"/>
              <a:t>Aljeshi</a:t>
            </a:r>
            <a:endParaRPr lang="en-US" sz="2000" dirty="0"/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sz="2000" dirty="0"/>
              <a:t>Course: </a:t>
            </a:r>
            <a:r>
              <a:rPr lang="en-US" sz="2000" dirty="0"/>
              <a:t>Data Science </a:t>
            </a:r>
            <a:r>
              <a:rPr sz="2000" dirty="0"/>
              <a:t> Project (Bahrain 2026)</a:t>
            </a:r>
            <a:br>
              <a:rPr sz="2000" dirty="0"/>
            </a:br>
            <a:r>
              <a:rPr sz="2000" dirty="0"/>
              <a:t>Date: June 2026</a:t>
            </a:r>
          </a:p>
        </p:txBody>
      </p:sp>
      <p:pic>
        <p:nvPicPr>
          <p:cNvPr id="3074" name="Picture 2" descr="Story Pin image">
            <a:extLst>
              <a:ext uri="{FF2B5EF4-FFF2-40B4-BE49-F238E27FC236}">
                <a16:creationId xmlns:a16="http://schemas.microsoft.com/office/drawing/2014/main" id="{1418321B-98C2-47F5-89B9-ED693CB61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672" y="-631736"/>
            <a:ext cx="4568328" cy="812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rPr lang="en-US" dirty="0"/>
              <a:t>Topic 1 : </a:t>
            </a:r>
            <a:r>
              <a:rPr lang="en-US" sz="2800" b="1" dirty="0"/>
              <a:t>Predicting the next-minute price direction (Upward/Downward) as a function of intraday volatility and immediate risk intensity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44233"/>
            <a:ext cx="11274552" cy="2363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rPr sz="2400" dirty="0"/>
              <a:t>Problem Statement :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rPr lang="en-US" sz="2000" dirty="0"/>
              <a:t>Cryptocurrency markets suffer from extreme, rapid risk fluctuations that render traditional lagging indicators and ineffective, leading to missed intraday opportunities. The aim is to predict the immediate 1-minute ahead price trend (Upward/Downward) as a function of real-time realized volatility and risk intensity.</a:t>
            </a:r>
            <a:endParaRPr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BDC651-5DFD-7038-578D-EECE91307116}"/>
              </a:ext>
            </a:extLst>
          </p:cNvPr>
          <p:cNvSpPr txBox="1"/>
          <p:nvPr/>
        </p:nvSpPr>
        <p:spPr>
          <a:xfrm>
            <a:off x="457200" y="4552274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lang="en-US" sz="2400" dirty="0"/>
              <a:t>Data Source</a:t>
            </a:r>
            <a:r>
              <a:rPr lang="ar-BH" sz="2400" dirty="0"/>
              <a:t>  : </a:t>
            </a:r>
            <a:r>
              <a:rPr lang="en-US" sz="2400" u="sng" dirty="0">
                <a:hlinkClick r:id="rId3"/>
              </a:rPr>
              <a:t>https://huggingface.co/datasets/loveisp/crypto-rv-1min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9C485-527D-34FC-8379-FCE47B6629B3}"/>
              </a:ext>
            </a:extLst>
          </p:cNvPr>
          <p:cNvSpPr txBox="1"/>
          <p:nvPr/>
        </p:nvSpPr>
        <p:spPr>
          <a:xfrm>
            <a:off x="457200" y="5430583"/>
            <a:ext cx="6225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lang="en-US" sz="2400" dirty="0"/>
              <a:t>Data Dimensions: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2D38C7-F141-C94C-BCA5-08889A52DA2A}"/>
              </a:ext>
            </a:extLst>
          </p:cNvPr>
          <p:cNvSpPr txBox="1"/>
          <p:nvPr/>
        </p:nvSpPr>
        <p:spPr>
          <a:xfrm>
            <a:off x="3314700" y="5107417"/>
            <a:ext cx="16507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buNone/>
            </a:pPr>
            <a:r>
              <a:rPr lang="en-US" sz="4800" b="0" i="0" dirty="0">
                <a:solidFill>
                  <a:schemeClr val="bg2"/>
                </a:solidFill>
                <a:effectLst/>
                <a:latin typeface="Modern No. 20" panose="02070704070505020303" pitchFamily="18" charset="0"/>
              </a:rPr>
              <a:t>12</a:t>
            </a:r>
            <a:r>
              <a:rPr lang="en-US" sz="4800" b="0" i="0" dirty="0">
                <a:solidFill>
                  <a:schemeClr val="bg2"/>
                </a:solidFill>
                <a:effectLst/>
                <a:latin typeface="menlo"/>
              </a:rPr>
              <a:t>M </a:t>
            </a:r>
          </a:p>
          <a:p>
            <a:pPr algn="ctr" latinLnBrk="1">
              <a:buNone/>
            </a:pPr>
            <a:r>
              <a:rPr lang="en-US" sz="2400" dirty="0">
                <a:solidFill>
                  <a:schemeClr val="bg2"/>
                </a:solidFill>
                <a:latin typeface="menlo"/>
              </a:rPr>
              <a:t>rows</a:t>
            </a:r>
            <a:endParaRPr lang="en-US" sz="4800" b="0" i="0" dirty="0">
              <a:solidFill>
                <a:schemeClr val="bg2"/>
              </a:solidFill>
              <a:effectLst/>
              <a:latin typeface="menl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83F2D1-F207-A2F3-AA76-E7901EBCE57C}"/>
              </a:ext>
            </a:extLst>
          </p:cNvPr>
          <p:cNvSpPr txBox="1"/>
          <p:nvPr/>
        </p:nvSpPr>
        <p:spPr>
          <a:xfrm>
            <a:off x="5607790" y="5061250"/>
            <a:ext cx="16507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buNone/>
            </a:pPr>
            <a:r>
              <a:rPr lang="en-US" sz="4800" dirty="0">
                <a:solidFill>
                  <a:schemeClr val="bg2"/>
                </a:solidFill>
                <a:latin typeface="Modern No. 20" panose="02070704070505020303" pitchFamily="18" charset="0"/>
              </a:rPr>
              <a:t>22</a:t>
            </a:r>
          </a:p>
          <a:p>
            <a:pPr algn="ctr" latinLnBrk="1">
              <a:buNone/>
            </a:pPr>
            <a:r>
              <a:rPr lang="en-US" sz="2400" dirty="0">
                <a:solidFill>
                  <a:schemeClr val="bg2"/>
                </a:solidFill>
                <a:latin typeface="menlo"/>
              </a:rPr>
              <a:t>columns</a:t>
            </a:r>
            <a:endParaRPr lang="en-US" sz="4800" b="0" i="0" dirty="0">
              <a:solidFill>
                <a:schemeClr val="bg2"/>
              </a:solidFill>
              <a:effectLst/>
              <a:latin typeface="menl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rPr dirty="0" err="1"/>
              <a:t>Featur</a:t>
            </a:r>
            <a:r>
              <a:rPr lang="en-US" dirty="0" err="1"/>
              <a:t>s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186831"/>
              </p:ext>
            </p:extLst>
          </p:nvPr>
        </p:nvGraphicFramePr>
        <p:xfrm>
          <a:off x="1030077" y="1078039"/>
          <a:ext cx="9898655" cy="5550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2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8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</a:p>
                  </a:txBody>
                  <a:tcPr marL="6350" marR="6350" marT="6350" marB="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6350" marR="6350" marT="6350" marB="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6350" marR="6350" marT="6350" marB="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open_time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int64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Candle Opening time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open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Opening price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3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Highest recorded price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Lowest recorded price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3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close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Closing price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volume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Trading volume in the base currency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41451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close_time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int64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Candle closing time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889982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quote_volume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Trading volume in the quote currency (USD)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933703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trades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int64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Number of completed trades.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873665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taker_buy_base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Currency used in quick buys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480178"/>
                  </a:ext>
                </a:extLst>
              </a:tr>
              <a:tr h="4680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taker_buy_quote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Cash used in USD in quick buys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398835"/>
                  </a:ext>
                </a:extLst>
              </a:tr>
              <a:tr h="3972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ignore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int64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A column to be ignored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438647"/>
                  </a:ext>
                </a:extLst>
              </a:tr>
              <a:tr h="6021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 err="1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target_direction</a:t>
                      </a:r>
                      <a:endParaRPr lang="en-US" sz="2000" kern="1200" dirty="0">
                        <a:solidFill>
                          <a:srgbClr val="38BDF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binary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 err="1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US" sz="2000" kern="1200" dirty="0" err="1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next_close</a:t>
                      </a: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'] &gt; </a:t>
                      </a:r>
                      <a:r>
                        <a:rPr lang="en-US" sz="2000" kern="1200" dirty="0" err="1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['close']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9796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rPr dirty="0"/>
              <a:t>EDA Insights &amp; Predictive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8" y="1078048"/>
            <a:ext cx="11044411" cy="489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solidFill>
                  <a:srgbClr val="F8FAFC"/>
                </a:solidFill>
              </a:defRPr>
            </a:pPr>
            <a:r>
              <a:rPr lang="en-US" sz="2000" dirty="0"/>
              <a:t>Distribution Assessment: Statistical normality tests indicated that all raw system variables exhibit a non-normal distribution.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solidFill>
                  <a:srgbClr val="F8FAFC"/>
                </a:solidFill>
              </a:defRPr>
            </a:pPr>
            <a:r>
              <a:rPr lang="en-US" sz="2000" dirty="0"/>
              <a:t>Correlation Analysis: Due to the non-linear and non-normal nature of the data, Spearman's rank correlation was utilized to measure the strength of associations between variables.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solidFill>
                  <a:srgbClr val="F8FAFC"/>
                </a:solidFill>
              </a:defRPr>
            </a:pPr>
            <a:r>
              <a:rPr lang="en-US" sz="2000" dirty="0"/>
              <a:t>Outlier Management: Boxplots were comprehensively implemented to detect extreme anomalies and outliers, which were subsequently isolated and treated.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solidFill>
                  <a:srgbClr val="F8FAFC"/>
                </a:solidFill>
              </a:defRPr>
            </a:pPr>
            <a:r>
              <a:rPr lang="en-US" sz="2000" dirty="0"/>
              <a:t>Hypothesis Testing: The dataset was stratified into two distinct groups based on price movement direction (Upward vs. Downward), and the non-parametric Mann-Whitney U test was conducted to verify if the engineered features show statistically significant differences between the two market regimes.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7EB23-97DE-17D7-1E7E-B90C86211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4D2716-749B-E07E-056B-ABE8B8D9A55D}"/>
              </a:ext>
            </a:extLst>
          </p:cNvPr>
          <p:cNvSpPr txBox="1"/>
          <p:nvPr/>
        </p:nvSpPr>
        <p:spPr>
          <a:xfrm>
            <a:off x="457200" y="365760"/>
            <a:ext cx="112745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rPr lang="en-US" dirty="0"/>
              <a:t>Topic 2 : </a:t>
            </a:r>
            <a:r>
              <a:rPr lang="en-US" sz="2800" b="1" dirty="0"/>
              <a:t>Predicting the next-minute price direction as a function of real-time order flow and aggressive market buyer (taker) dynamics.</a:t>
            </a:r>
          </a:p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DB5167-2F2A-4683-6494-822906691A0D}"/>
              </a:ext>
            </a:extLst>
          </p:cNvPr>
          <p:cNvSpPr txBox="1"/>
          <p:nvPr/>
        </p:nvSpPr>
        <p:spPr>
          <a:xfrm>
            <a:off x="457200" y="1819732"/>
            <a:ext cx="11274552" cy="1901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rPr sz="2400" dirty="0"/>
              <a:t>Problem Statement :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rPr lang="en-US" sz="2000" dirty="0"/>
              <a:t>Traditional equity trading is constrained by market operating hours, creating overnight price gaps and making intraday high-frequency scalping strategies inapplicable. The aim is to forecast the next-day price direction (Upward/Downward) for institutional equities to optimize daily asset reallocation strategies.</a:t>
            </a:r>
            <a:endParaRPr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52812-A906-96E9-1A12-A4E0A278022B}"/>
              </a:ext>
            </a:extLst>
          </p:cNvPr>
          <p:cNvSpPr txBox="1"/>
          <p:nvPr/>
        </p:nvSpPr>
        <p:spPr>
          <a:xfrm>
            <a:off x="457200" y="4552274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lang="en-US" sz="2400" dirty="0"/>
              <a:t>Data Source</a:t>
            </a:r>
            <a:r>
              <a:rPr lang="ar-BH" sz="2400" dirty="0"/>
              <a:t>  : </a:t>
            </a:r>
            <a:r>
              <a:rPr lang="en-US" sz="2400" u="sng" dirty="0"/>
              <a:t>https://huggingface.co/datasets/scottman625/stocks_100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55756-24BF-D307-77DC-4ECEBA8F8CB7}"/>
              </a:ext>
            </a:extLst>
          </p:cNvPr>
          <p:cNvSpPr txBox="1"/>
          <p:nvPr/>
        </p:nvSpPr>
        <p:spPr>
          <a:xfrm>
            <a:off x="457200" y="5430583"/>
            <a:ext cx="6225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lang="en-US" sz="2400" dirty="0"/>
              <a:t>Data Dimensions: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858ED-7B38-4131-0A5D-6222F0981FF3}"/>
              </a:ext>
            </a:extLst>
          </p:cNvPr>
          <p:cNvSpPr txBox="1"/>
          <p:nvPr/>
        </p:nvSpPr>
        <p:spPr>
          <a:xfrm>
            <a:off x="3314700" y="5107417"/>
            <a:ext cx="16507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buNone/>
            </a:pPr>
            <a:r>
              <a:rPr lang="en-US" sz="4800" b="0" i="0" dirty="0">
                <a:solidFill>
                  <a:schemeClr val="bg2"/>
                </a:solidFill>
                <a:effectLst/>
                <a:latin typeface="Modern No. 20" panose="02070704070505020303" pitchFamily="18" charset="0"/>
              </a:rPr>
              <a:t>68</a:t>
            </a:r>
            <a:r>
              <a:rPr lang="en-US" sz="4800" b="0" i="0" dirty="0">
                <a:solidFill>
                  <a:schemeClr val="bg2"/>
                </a:solidFill>
                <a:effectLst/>
                <a:latin typeface="menlo"/>
              </a:rPr>
              <a:t>K </a:t>
            </a:r>
          </a:p>
          <a:p>
            <a:pPr algn="ctr" latinLnBrk="1">
              <a:buNone/>
            </a:pPr>
            <a:r>
              <a:rPr lang="en-US" sz="2400" dirty="0">
                <a:solidFill>
                  <a:schemeClr val="bg2"/>
                </a:solidFill>
                <a:latin typeface="menlo"/>
              </a:rPr>
              <a:t>rows</a:t>
            </a:r>
            <a:endParaRPr lang="en-US" sz="4800" b="0" i="0" dirty="0">
              <a:solidFill>
                <a:schemeClr val="bg2"/>
              </a:solidFill>
              <a:effectLst/>
              <a:latin typeface="menl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1952F5-C623-DE59-45EF-3583F2E1562A}"/>
              </a:ext>
            </a:extLst>
          </p:cNvPr>
          <p:cNvSpPr txBox="1"/>
          <p:nvPr/>
        </p:nvSpPr>
        <p:spPr>
          <a:xfrm>
            <a:off x="5607790" y="5061250"/>
            <a:ext cx="16507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buNone/>
            </a:pPr>
            <a:r>
              <a:rPr lang="en-US" sz="4800" dirty="0">
                <a:solidFill>
                  <a:schemeClr val="bg2"/>
                </a:solidFill>
                <a:latin typeface="Modern No. 20" panose="02070704070505020303" pitchFamily="18" charset="0"/>
              </a:rPr>
              <a:t>8</a:t>
            </a:r>
          </a:p>
          <a:p>
            <a:pPr algn="ctr" latinLnBrk="1">
              <a:buNone/>
            </a:pPr>
            <a:r>
              <a:rPr lang="en-US" sz="2400" dirty="0">
                <a:solidFill>
                  <a:schemeClr val="bg2"/>
                </a:solidFill>
                <a:latin typeface="menlo"/>
              </a:rPr>
              <a:t>columns</a:t>
            </a:r>
            <a:endParaRPr lang="en-US" sz="4800" b="0" i="0" dirty="0">
              <a:solidFill>
                <a:schemeClr val="bg2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1347429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F0815C-9CD0-5996-4F1B-D59ADDF61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9EBA04-83A2-F5DC-05E3-E00312171DAB}"/>
              </a:ext>
            </a:extLst>
          </p:cNvPr>
          <p:cNvSpPr txBox="1"/>
          <p:nvPr/>
        </p:nvSpPr>
        <p:spPr>
          <a:xfrm>
            <a:off x="457200" y="365760"/>
            <a:ext cx="11274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rPr dirty="0" err="1"/>
              <a:t>Featur</a:t>
            </a:r>
            <a:r>
              <a:rPr lang="en-US" dirty="0" err="1"/>
              <a:t>s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04B685-99EA-9296-25F9-FE129AF86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844727"/>
              </p:ext>
            </p:extLst>
          </p:nvPr>
        </p:nvGraphicFramePr>
        <p:xfrm>
          <a:off x="457200" y="1078039"/>
          <a:ext cx="11176613" cy="395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0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8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</a:p>
                  </a:txBody>
                  <a:tcPr marL="6350" marR="6350" marT="6350" marB="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6350" marR="6350" marT="6350" marB="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6350" marR="6350" marT="6350" marB="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stock_id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int64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Company ID on the stock exchange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Daily trading session date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3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Open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The first price at which the stock traded when the market opened that day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The highest price the stock reached during the trading session that day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3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The lowest price the stock reached during the trading session that day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Close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The last price at which the stock traded when the market closed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41451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Volume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The total number of shares bought and sold during that day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889982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MA_20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20-day moving average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933703"/>
                  </a:ext>
                </a:extLst>
              </a:tr>
              <a:tr h="6021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 err="1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target_direction</a:t>
                      </a:r>
                      <a:endParaRPr lang="en-US" sz="2000" kern="1200" dirty="0">
                        <a:solidFill>
                          <a:srgbClr val="38BDF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binary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 err="1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US" sz="2000" kern="1200" dirty="0" err="1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next_close</a:t>
                      </a: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'] &gt; </a:t>
                      </a:r>
                      <a:r>
                        <a:rPr lang="en-US" sz="2000" kern="1200" dirty="0" err="1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['close']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979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313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B71BB-1FE9-C66C-4B64-8DC715558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C5998B-AAEE-D83F-03E4-A2C455D4A968}"/>
              </a:ext>
            </a:extLst>
          </p:cNvPr>
          <p:cNvSpPr txBox="1"/>
          <p:nvPr/>
        </p:nvSpPr>
        <p:spPr>
          <a:xfrm>
            <a:off x="457200" y="365760"/>
            <a:ext cx="11274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rPr dirty="0"/>
              <a:t>EDA Insights &amp; Predictive Model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82CDD3-3BEB-878C-16B8-E4241F68C7E4}"/>
              </a:ext>
            </a:extLst>
          </p:cNvPr>
          <p:cNvSpPr txBox="1"/>
          <p:nvPr/>
        </p:nvSpPr>
        <p:spPr>
          <a:xfrm>
            <a:off x="457198" y="1078048"/>
            <a:ext cx="11044411" cy="489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solidFill>
                  <a:srgbClr val="F8FAFC"/>
                </a:solidFill>
              </a:defRPr>
            </a:pPr>
            <a:r>
              <a:rPr lang="en-US" sz="2000" dirty="0"/>
              <a:t>Distribution Assessment: Statistical normality tests indicated that all raw system variables exhibit a non-normal distribution.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solidFill>
                  <a:srgbClr val="F8FAFC"/>
                </a:solidFill>
              </a:defRPr>
            </a:pPr>
            <a:r>
              <a:rPr lang="en-US" sz="2000" dirty="0"/>
              <a:t>Correlation Analysis: Due to the non-linear and non-normal nature of the data, Spearman's rank correlation was utilized to measure the strength of associations between variables.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solidFill>
                  <a:srgbClr val="F8FAFC"/>
                </a:solidFill>
              </a:defRPr>
            </a:pPr>
            <a:r>
              <a:rPr lang="en-US" sz="2000" dirty="0"/>
              <a:t>Outlier Management: Boxplots were comprehensively implemented to detect extreme anomalies and outliers, which were subsequently isolated and treated.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solidFill>
                  <a:srgbClr val="F8FAFC"/>
                </a:solidFill>
              </a:defRPr>
            </a:pPr>
            <a:r>
              <a:rPr lang="en-US" sz="2000" dirty="0"/>
              <a:t>Hypothesis Testing: The dataset was stratified into two distinct groups based on price movement direction (Upward vs. Downward), and the non-parametric Mann-Whitney U test was conducted to verify if the engineered features show statistically significant differences between the two market regimes.</a:t>
            </a:r>
          </a:p>
        </p:txBody>
      </p:sp>
    </p:spTree>
    <p:extLst>
      <p:ext uri="{BB962C8B-B14F-4D97-AF65-F5344CB8AC3E}">
        <p14:creationId xmlns:p14="http://schemas.microsoft.com/office/powerpoint/2010/main" val="2406708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F7D7C-AF3E-502F-5954-5FD1BF91D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110FFC-7912-D979-32D2-BC2CD6A5F6E1}"/>
              </a:ext>
            </a:extLst>
          </p:cNvPr>
          <p:cNvSpPr txBox="1"/>
          <p:nvPr/>
        </p:nvSpPr>
        <p:spPr>
          <a:xfrm>
            <a:off x="457200" y="365760"/>
            <a:ext cx="112745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rPr lang="en-US" dirty="0"/>
              <a:t>Topic 3 : </a:t>
            </a:r>
            <a:r>
              <a:rPr lang="en-US" sz="2800" b="1" dirty="0"/>
              <a:t>Predicting the next-minute price direction as a function of real-time order flow and aggressive market buyer (taker) dynamics.</a:t>
            </a:r>
          </a:p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E04B7-0081-4B47-0397-9667FE0EC3AA}"/>
              </a:ext>
            </a:extLst>
          </p:cNvPr>
          <p:cNvSpPr txBox="1"/>
          <p:nvPr/>
        </p:nvSpPr>
        <p:spPr>
          <a:xfrm>
            <a:off x="550844" y="1900535"/>
            <a:ext cx="10690658" cy="2363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rPr sz="2400" dirty="0"/>
              <a:t>Problem Statement :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rPr lang="en-US" sz="2000" dirty="0"/>
              <a:t>Monitoring and analyzing liquidity behavior and aggressive institutional investor (whale) activities within ultra-short timeframes is highly complex and unmanageable. The aim is to predict the immediate 1-minute ahead price direction (Upward/Downward) by analyzing real-time order flow dynamics and market taker behavior.</a:t>
            </a:r>
            <a:endParaRPr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B44476-F7B1-CEAF-DA47-575CF0C41D67}"/>
              </a:ext>
            </a:extLst>
          </p:cNvPr>
          <p:cNvSpPr txBox="1"/>
          <p:nvPr/>
        </p:nvSpPr>
        <p:spPr>
          <a:xfrm>
            <a:off x="457200" y="4552274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lang="en-US" sz="2400" dirty="0"/>
              <a:t>Data Source</a:t>
            </a:r>
            <a:r>
              <a:rPr lang="ar-BH" sz="2400" dirty="0"/>
              <a:t>  : </a:t>
            </a:r>
            <a:r>
              <a:rPr lang="en-US" sz="2400" u="sng" dirty="0"/>
              <a:t>https://www.cryptodatadownload.com/data/binance/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41976-F45E-AEBA-6FED-B4C966BDB92D}"/>
              </a:ext>
            </a:extLst>
          </p:cNvPr>
          <p:cNvSpPr txBox="1"/>
          <p:nvPr/>
        </p:nvSpPr>
        <p:spPr>
          <a:xfrm>
            <a:off x="457200" y="5430583"/>
            <a:ext cx="6225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rPr lang="en-US" sz="2400" dirty="0"/>
              <a:t>Data Dimensions: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ABB2A7-2604-6FED-663C-A3089F2E2F67}"/>
              </a:ext>
            </a:extLst>
          </p:cNvPr>
          <p:cNvSpPr txBox="1"/>
          <p:nvPr/>
        </p:nvSpPr>
        <p:spPr>
          <a:xfrm>
            <a:off x="3314700" y="5107417"/>
            <a:ext cx="16507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buNone/>
            </a:pPr>
            <a:r>
              <a:rPr lang="en-US" sz="4800" b="0" i="0" dirty="0">
                <a:solidFill>
                  <a:schemeClr val="bg2"/>
                </a:solidFill>
                <a:effectLst/>
                <a:latin typeface="Modern No. 20" panose="02070704070505020303" pitchFamily="18" charset="0"/>
              </a:rPr>
              <a:t>230</a:t>
            </a:r>
            <a:r>
              <a:rPr lang="en-US" sz="4800" b="0" i="0" dirty="0">
                <a:solidFill>
                  <a:schemeClr val="bg2"/>
                </a:solidFill>
                <a:effectLst/>
                <a:latin typeface="menlo"/>
              </a:rPr>
              <a:t>K </a:t>
            </a:r>
          </a:p>
          <a:p>
            <a:pPr algn="ctr" latinLnBrk="1">
              <a:buNone/>
            </a:pPr>
            <a:r>
              <a:rPr lang="en-US" sz="2400" dirty="0">
                <a:solidFill>
                  <a:schemeClr val="bg2"/>
                </a:solidFill>
                <a:latin typeface="menlo"/>
              </a:rPr>
              <a:t>rows</a:t>
            </a:r>
            <a:endParaRPr lang="en-US" sz="4800" b="0" i="0" dirty="0">
              <a:solidFill>
                <a:schemeClr val="bg2"/>
              </a:solidFill>
              <a:effectLst/>
              <a:latin typeface="menl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D9823E-5087-CF2E-CE9E-1D9417E7879A}"/>
              </a:ext>
            </a:extLst>
          </p:cNvPr>
          <p:cNvSpPr txBox="1"/>
          <p:nvPr/>
        </p:nvSpPr>
        <p:spPr>
          <a:xfrm>
            <a:off x="5607790" y="5061250"/>
            <a:ext cx="16507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buNone/>
            </a:pPr>
            <a:r>
              <a:rPr lang="en-US" sz="4800" dirty="0">
                <a:solidFill>
                  <a:schemeClr val="bg2"/>
                </a:solidFill>
                <a:latin typeface="Modern No. 20" panose="02070704070505020303" pitchFamily="18" charset="0"/>
              </a:rPr>
              <a:t>17</a:t>
            </a:r>
          </a:p>
          <a:p>
            <a:pPr algn="ctr" latinLnBrk="1">
              <a:buNone/>
            </a:pPr>
            <a:r>
              <a:rPr lang="en-US" sz="2400" dirty="0">
                <a:solidFill>
                  <a:schemeClr val="bg2"/>
                </a:solidFill>
                <a:latin typeface="menlo"/>
              </a:rPr>
              <a:t>columns</a:t>
            </a:r>
            <a:endParaRPr lang="en-US" sz="4800" b="0" i="0" dirty="0">
              <a:solidFill>
                <a:schemeClr val="bg2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72501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E3809-097E-D45D-4E36-0029330A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5669DF-594A-4A85-87CB-011A55EBF940}"/>
              </a:ext>
            </a:extLst>
          </p:cNvPr>
          <p:cNvSpPr txBox="1"/>
          <p:nvPr/>
        </p:nvSpPr>
        <p:spPr>
          <a:xfrm>
            <a:off x="457200" y="365760"/>
            <a:ext cx="11274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rPr dirty="0" err="1"/>
              <a:t>Featur</a:t>
            </a:r>
            <a:r>
              <a:rPr lang="en-US" dirty="0" err="1"/>
              <a:t>s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FEA840-ABEE-26BC-1514-33B387CD1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0116"/>
              </p:ext>
            </p:extLst>
          </p:nvPr>
        </p:nvGraphicFramePr>
        <p:xfrm>
          <a:off x="572877" y="941921"/>
          <a:ext cx="11274552" cy="508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4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8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</a:p>
                  </a:txBody>
                  <a:tcPr marL="6350" marR="6350" marT="6350" marB="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6350" marR="6350" marT="6350" marB="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6350" marR="6350" marT="6350" marB="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Unix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datetime64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Represents the exact timestamp of the trading minute in Unix epoch format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Displays the human-readable date and time formatting for each specific trading minute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3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Trading pair asset being tracked, which is strictly BTC/USDT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7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Open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The opening market price of Bitcoin at the exact beginning of that specific 1-minute interval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3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The absolute highest price level achieved by Bitcoin during the 60 seconds of that minute.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Low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The absolute lowest price level touched by Bitcoin during the 60 seconds of that minute.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41451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Close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The final execution price of Bitcoin at the exact closing second of that 1-minute interval.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889982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Volume BTC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The total physical amount of Bitcoin coins bought and sold during that single minute.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933703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Volume USDT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float64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The total gross value of the traded Bitcoin measured in USDT (dollars) during that minute.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873665"/>
                  </a:ext>
                </a:extLst>
              </a:tr>
              <a:tr h="3635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tradecount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int64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The absolute number of individual transaction orders filled and executed within that minute.</a:t>
                      </a:r>
                    </a:p>
                  </a:txBody>
                  <a:tcPr marL="6350" marR="6350" marT="635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480178"/>
                  </a:ext>
                </a:extLst>
              </a:tr>
              <a:tr h="6021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 err="1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target_direction</a:t>
                      </a:r>
                      <a:endParaRPr lang="en-US" sz="2000" kern="1200" dirty="0">
                        <a:solidFill>
                          <a:srgbClr val="38BDF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binary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kern="1200" dirty="0" err="1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['</a:t>
                      </a:r>
                      <a:r>
                        <a:rPr lang="en-US" sz="2000" kern="1200" dirty="0" err="1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next_close</a:t>
                      </a: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'] &gt; </a:t>
                      </a:r>
                      <a:r>
                        <a:rPr lang="en-US" sz="2000" kern="1200" dirty="0" err="1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2000" kern="1200" dirty="0">
                          <a:solidFill>
                            <a:srgbClr val="38BDF8"/>
                          </a:solidFill>
                          <a:latin typeface="+mn-lt"/>
                          <a:ea typeface="+mn-ea"/>
                          <a:cs typeface="+mn-cs"/>
                        </a:rPr>
                        <a:t>['close']</a:t>
                      </a: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979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52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C687B-EB86-AFA1-B1AE-6A2EB5AAD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8AF827-B334-388C-BA50-1AE7720677BB}"/>
              </a:ext>
            </a:extLst>
          </p:cNvPr>
          <p:cNvSpPr txBox="1"/>
          <p:nvPr/>
        </p:nvSpPr>
        <p:spPr>
          <a:xfrm>
            <a:off x="457200" y="365760"/>
            <a:ext cx="11274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Arial"/>
              </a:defRPr>
            </a:pPr>
            <a:r>
              <a:rPr dirty="0"/>
              <a:t>EDA Insights &amp; Predictive Model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FB413-A1C4-3EF8-671B-188B3D2A18EA}"/>
              </a:ext>
            </a:extLst>
          </p:cNvPr>
          <p:cNvSpPr txBox="1"/>
          <p:nvPr/>
        </p:nvSpPr>
        <p:spPr>
          <a:xfrm>
            <a:off x="457198" y="1078048"/>
            <a:ext cx="11044411" cy="2968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solidFill>
                  <a:srgbClr val="F8FAFC"/>
                </a:solidFill>
              </a:defRPr>
            </a:pPr>
            <a:r>
              <a:rPr lang="en-US" sz="2000" dirty="0"/>
              <a:t>Dataset Stratification: The dataset was stratified into two distinct groups based on the immediate price movement direction (Upward Regime vs. Downward Regime).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solidFill>
                  <a:srgbClr val="F8FAFC"/>
                </a:solidFill>
              </a:defRPr>
            </a:pPr>
            <a:endParaRPr lang="en-US" sz="2000" dirty="0"/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solidFill>
                  <a:srgbClr val="F8FAFC"/>
                </a:solidFill>
              </a:defRPr>
            </a:pPr>
            <a:r>
              <a:rPr lang="en-US" sz="2000" dirty="0"/>
              <a:t>Hypothesis Testing: The non-parametric Mann-Whitney U test was conducted to verify if the engineered features show statistically significant differences between the two market regimes, ensuring the predictive features carry genuine market-direction signals rather than random noise.</a:t>
            </a:r>
          </a:p>
        </p:txBody>
      </p:sp>
    </p:spTree>
    <p:extLst>
      <p:ext uri="{BB962C8B-B14F-4D97-AF65-F5344CB8AC3E}">
        <p14:creationId xmlns:p14="http://schemas.microsoft.com/office/powerpoint/2010/main" val="2471606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1035</Words>
  <Application>Microsoft Office PowerPoint</Application>
  <PresentationFormat>Widescreen</PresentationFormat>
  <Paragraphs>158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menlo</vt:lpstr>
      <vt:lpstr>Modern No. 20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Mohammed Mujtaba A.Rasool Alalaiwat</cp:lastModifiedBy>
  <cp:revision>5</cp:revision>
  <dcterms:created xsi:type="dcterms:W3CDTF">2013-01-27T09:14:16Z</dcterms:created>
  <dcterms:modified xsi:type="dcterms:W3CDTF">2026-06-17T15:37:43Z</dcterms:modified>
  <cp:category/>
</cp:coreProperties>
</file>